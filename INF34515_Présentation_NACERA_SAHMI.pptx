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2" r:id="rId8"/>
    <p:sldId id="264" r:id="rId9"/>
    <p:sldId id="265" r:id="rId10"/>
    <p:sldId id="27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0" autoAdjust="0"/>
    <p:restoredTop sz="94660"/>
  </p:normalViewPr>
  <p:slideViewPr>
    <p:cSldViewPr snapToGrid="0">
      <p:cViewPr>
        <p:scale>
          <a:sx n="97" d="100"/>
          <a:sy n="97" d="100"/>
        </p:scale>
        <p:origin x="-41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fr-FR" sz="1800" b="0" strike="noStrike" spc="-1">
                <a:solidFill>
                  <a:srgbClr val="000000"/>
                </a:solidFill>
                <a:latin typeface="Avenir Next LT Pro"/>
              </a:rPr>
              <a:t>Cliquez pour déplacer la diapo</a:t>
            </a: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CA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8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CA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87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CA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CA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88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CA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CA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89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CA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E6DACCF-AC1A-4D88-BA1A-72F9816456E3}" type="slidenum">
              <a:rPr lang="fr-CA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CA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38840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fr-CA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D6B837D-963B-48C9-81FC-B9C83258D6E2}" type="slidenum">
              <a:rPr lang="fr-CA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fr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81721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fr-CA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5A128EA-1AD4-4DB9-B8AE-E2911460E827}" type="slidenum">
              <a:rPr lang="fr-CA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fr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91461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L’idée est de rassembler les fonctions clés en un seul endroit : démarrer un parcours, suivre la trace, capturer des moments et retrouver tout à la fin sur la carte.</a:t>
            </a:r>
            <a:endParaRPr lang="fr-CA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fr-CA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CEE7215-3FDB-4C08-953C-2A5A5EB6F9C8}" type="slidenum">
              <a:rPr lang="fr-CA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fr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025039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L’idée est de rassembler les fonctions clés en un seul endroit : démarrer un parcours, suivre la trace, capturer des moments et retrouver tout à la fin sur la carte.</a:t>
            </a:r>
            <a:endParaRPr lang="fr-CA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fr-CA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9BAA1CA-F57A-4F4D-9B83-09C4EF174803}" type="slidenum">
              <a:rPr lang="fr-CA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lang="fr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657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L’idée est de rassembler les fonctions clés en un seul endroit : démarrer un parcours, suivre la trace, capturer des moments et retrouver tout à la fin sur la carte.</a:t>
            </a:r>
            <a:endParaRPr lang="fr-CA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fr-CA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CCD7ABC-2D67-40AE-A306-F1B8823BBCB0}" type="slidenum">
              <a:rPr lang="fr-CA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fr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39462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7517D3B-3630-44E7-B4C4-2A3941A2F989}" type="slidenum">
              <a:t>‹N°›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17760" y="1517760"/>
            <a:ext cx="91436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1517760" y="4572000"/>
            <a:ext cx="914364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fr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C34512B-2D61-466F-9E80-DB33EED8EF2F}" type="slidenum">
              <a:t>‹N°›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517760" y="1517760"/>
            <a:ext cx="91436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1517760" y="4572000"/>
            <a:ext cx="914364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DACE5C1-A4C3-49AB-9B2E-9070B6DBE683}" type="slidenum">
              <a:t>‹N°›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517760" y="1517760"/>
            <a:ext cx="91436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1517760" y="4572000"/>
            <a:ext cx="446184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03160" y="4572000"/>
            <a:ext cx="446184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A9811F0-3F21-4EE0-9FD5-0DEA0667D819}" type="slidenum">
              <a:t>‹N°›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17760" y="1517760"/>
            <a:ext cx="91436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718432B-68B6-4FDB-9D0F-7FFE32C5F37E}" type="slidenum">
              <a:t>‹N°›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1517760" y="1517760"/>
            <a:ext cx="9143640" cy="1322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fr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6E71A2F-43CD-4941-8BCE-33F5C11B63A4}" type="slidenum">
              <a:t>‹N°›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517760" y="1517760"/>
            <a:ext cx="91436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1517760" y="4572000"/>
            <a:ext cx="44618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03160" y="4572000"/>
            <a:ext cx="446184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1517760" y="5355720"/>
            <a:ext cx="44618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D1DC5C8-BDC3-418F-B84D-18923F68EFE4}" type="slidenum"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17760" y="1517760"/>
            <a:ext cx="91436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1517760" y="4572000"/>
            <a:ext cx="446184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03160" y="4572000"/>
            <a:ext cx="44618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03160" y="5355720"/>
            <a:ext cx="44618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7BADFC6-4E54-44E4-9B7E-D1FCB704588F}" type="slidenum"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17760" y="1517760"/>
            <a:ext cx="91436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1517760" y="4572000"/>
            <a:ext cx="44618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03160" y="4572000"/>
            <a:ext cx="44618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1517760" y="5355720"/>
            <a:ext cx="91436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1641658-34A1-47E5-A29E-55B3E8C7DD6E}" type="slidenum"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517760" y="1517760"/>
            <a:ext cx="91436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1517760" y="4572000"/>
            <a:ext cx="91436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1517760" y="5355720"/>
            <a:ext cx="91436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68AF07F-08A3-401C-A787-C240DB7708AE}" type="slidenum">
              <a:t>‹N°›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517760" y="1517760"/>
            <a:ext cx="91436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1517760" y="4572000"/>
            <a:ext cx="44618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03160" y="4572000"/>
            <a:ext cx="44618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1517760" y="5355720"/>
            <a:ext cx="44618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03160" y="5355720"/>
            <a:ext cx="44618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EA09616-E6AA-4859-8029-4E3D493815E3}" type="slidenum">
              <a:t>‹N°›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17760" y="1517760"/>
            <a:ext cx="91436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1517760" y="4572000"/>
            <a:ext cx="2944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9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09440" y="4572000"/>
            <a:ext cx="2944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9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7701120" y="4572000"/>
            <a:ext cx="2944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9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1517760" y="5355720"/>
            <a:ext cx="2944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9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609440" y="5355720"/>
            <a:ext cx="2944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9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7701120" y="5355720"/>
            <a:ext cx="2944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9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1216094-98D5-4B79-B859-56FCB3C73FE5}" type="slidenum">
              <a:t>‹N°›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B443A33-E9E4-42B3-8C23-E4822CBA3845}" type="slidenum">
              <a:t>‹N°›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517760" y="1517760"/>
            <a:ext cx="91436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1517760" y="4572000"/>
            <a:ext cx="914364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fr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8A4B000-DF78-4D77-9244-3BA01FB84DD4}" type="slidenum">
              <a:t>‹N°›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17760" y="1517760"/>
            <a:ext cx="91436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1517760" y="4572000"/>
            <a:ext cx="914364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CE21176-269B-4065-8BB3-180E7170BB17}" type="slidenum">
              <a:t>‹N°›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517760" y="1517760"/>
            <a:ext cx="91436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1517760" y="4572000"/>
            <a:ext cx="446184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03160" y="4572000"/>
            <a:ext cx="446184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FAD0F47-7039-48BE-89DB-A103CDEE2662}" type="slidenum">
              <a:t>‹N°›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517760" y="1517760"/>
            <a:ext cx="91436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27D1A28-9BB7-493A-A9C4-95EED104949B}" type="slidenum">
              <a:t>‹N°›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1517760" y="1517760"/>
            <a:ext cx="9143640" cy="1322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fr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C3B7B75-5455-4A22-BAB8-1A5F433859E8}" type="slidenum">
              <a:t>‹N°›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517760" y="1517760"/>
            <a:ext cx="91436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1517760" y="4572000"/>
            <a:ext cx="44618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03160" y="4572000"/>
            <a:ext cx="446184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1517760" y="5355720"/>
            <a:ext cx="44618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42FF382-42A2-4B5D-A8EA-45F3AFE9A506}" type="slidenum"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517760" y="1517760"/>
            <a:ext cx="91436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1517760" y="4572000"/>
            <a:ext cx="4461840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03160" y="4572000"/>
            <a:ext cx="44618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6203160" y="5355720"/>
            <a:ext cx="44618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6928A63-4E3F-4CBD-A45D-591DD0067486}" type="slidenum"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17760" y="1517760"/>
            <a:ext cx="91436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1517760" y="4572000"/>
            <a:ext cx="44618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03160" y="4572000"/>
            <a:ext cx="44618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1517760" y="5355720"/>
            <a:ext cx="91436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3DAF47C-3018-42EE-A0D5-BDAF7BA8F928}" type="slidenum">
              <a:t>‹N°›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517760" y="1517760"/>
            <a:ext cx="91436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1517760" y="4572000"/>
            <a:ext cx="91436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1517760" y="5355720"/>
            <a:ext cx="91436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230C4B0-2907-4B27-BE1C-56B215172DB3}" type="slidenum">
              <a:t>‹N°›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17760" y="1517760"/>
            <a:ext cx="91436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1517760" y="4572000"/>
            <a:ext cx="44618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03160" y="4572000"/>
            <a:ext cx="44618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1517760" y="5355720"/>
            <a:ext cx="44618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203160" y="5355720"/>
            <a:ext cx="446184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43D0F90-C564-48E8-BE9A-BAA61A53AB66}" type="slidenum">
              <a:t>‹N°›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517760" y="1517760"/>
            <a:ext cx="9143640" cy="28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1517760" y="4572000"/>
            <a:ext cx="2944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9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4609440" y="4572000"/>
            <a:ext cx="2944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9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7701120" y="4572000"/>
            <a:ext cx="2944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9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1517760" y="5355720"/>
            <a:ext cx="2944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9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4609440" y="5355720"/>
            <a:ext cx="2944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9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7701120" y="5355720"/>
            <a:ext cx="2944080" cy="71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9000"/>
          </a:bodyPr>
          <a:lstStyle/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lang="fr-FR" sz="26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07A6592-4B3E-40DF-87E6-04C8E54A51EC}" type="slidenum">
              <a:t>‹N°›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7"/>
          <p:cNvSpPr/>
          <p:nvPr/>
        </p:nvSpPr>
        <p:spPr>
          <a:xfrm>
            <a:off x="0" y="0"/>
            <a:ext cx="12191760" cy="61052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105240"/>
              <a:gd name="textAreaBottom" fmla="*/ 6105600 h 6105240"/>
            </a:gdLst>
            <a:ahLst/>
            <a:cxnLst/>
            <a:rect l="textAreaLeft" t="textAreaTop" r="textAreaRight" b="textAreaBottom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rotWithShape="0">
            <a:gsLst>
              <a:gs pos="0">
                <a:srgbClr val="CA2255"/>
              </a:gs>
              <a:gs pos="100000">
                <a:srgbClr val="DC34AD"/>
              </a:gs>
            </a:gsLst>
            <a:lin ang="7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venir Next LT Pro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17760" y="1517760"/>
            <a:ext cx="9143640" cy="2797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indent="0" algn="ctr">
              <a:lnSpc>
                <a:spcPct val="95000"/>
              </a:lnSpc>
              <a:buNone/>
            </a:pPr>
            <a:r>
              <a:rPr lang="en-US" sz="6000" b="0" strike="noStrike" spc="-52">
                <a:solidFill>
                  <a:srgbClr val="000000"/>
                </a:solidFill>
                <a:latin typeface="Aharoni"/>
              </a:rPr>
              <a:t>Click to edit Master title style</a:t>
            </a:r>
            <a:endParaRPr lang="fr-FR" sz="60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8805600" y="6400800"/>
            <a:ext cx="18651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000" b="0" strike="noStrike" spc="-1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0" b="0" strike="noStrike" spc="-1">
                <a:solidFill>
                  <a:srgbClr val="000000"/>
                </a:solidFill>
                <a:latin typeface="Avenir Next LT Pro"/>
              </a:rPr>
              <a:t>&lt;date/heure&gt;</a:t>
            </a:r>
            <a:endParaRPr lang="fr-CA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758880" y="6400800"/>
            <a:ext cx="6098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lang="fr-CA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CA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10899720" y="6400800"/>
            <a:ext cx="529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000" b="1" strike="noStrike" spc="-1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DCB65B6-EA31-4BA9-A350-31AEB134A6B7}" type="slidenum">
              <a:rPr lang="en-US" sz="1000" b="1" strike="noStrike" spc="-1">
                <a:solidFill>
                  <a:srgbClr val="000000"/>
                </a:solidFill>
                <a:latin typeface="Avenir Next LT Pro"/>
              </a:rPr>
              <a:t>‹N°›</a:t>
            </a:fld>
            <a:endParaRPr lang="fr-CA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600" b="0" strike="noStrike" spc="-1">
                <a:solidFill>
                  <a:srgbClr val="000000"/>
                </a:solidFill>
                <a:latin typeface="Avenir Next LT Pro"/>
              </a:rPr>
              <a:t>Cliquez pour éditer le format du plan de texte</a:t>
            </a:r>
          </a:p>
          <a:p>
            <a:pPr marL="864000" lvl="1" indent="-324000">
              <a:lnSpc>
                <a:spcPct val="10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strike="noStrike" spc="-1">
                <a:solidFill>
                  <a:srgbClr val="000000"/>
                </a:solidFill>
                <a:latin typeface="Avenir Next LT Pro"/>
              </a:rPr>
              <a:t>Second niveau de plan</a:t>
            </a:r>
          </a:p>
          <a:p>
            <a:pPr marL="1296000" lvl="2" indent="-288000">
              <a:lnSpc>
                <a:spcPct val="10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i="1" strike="noStrike" spc="-1">
                <a:solidFill>
                  <a:srgbClr val="404040"/>
                </a:solidFill>
                <a:latin typeface="Avenir Next LT Pro"/>
              </a:rPr>
              <a:t>Troisième niveau de plan</a:t>
            </a:r>
          </a:p>
          <a:p>
            <a:pPr marL="1728000" lvl="3" indent="-216000">
              <a:lnSpc>
                <a:spcPct val="10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venir Next LT Pro"/>
              </a:rPr>
              <a:t>Quatrième niveau de plan</a:t>
            </a:r>
          </a:p>
          <a:p>
            <a:pPr marL="2160000" lvl="4" indent="-2160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venir Next LT Pro"/>
              </a:rPr>
              <a:t>Cinquième niveau de plan</a:t>
            </a:r>
          </a:p>
          <a:p>
            <a:pPr marL="2592000" lvl="5" indent="-2160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venir Next LT Pro"/>
              </a:rPr>
              <a:t>Sixième niveau de plan</a:t>
            </a:r>
          </a:p>
          <a:p>
            <a:pPr marL="3024000" lvl="6" indent="-2160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venir Next LT Pro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: Shape 7"/>
          <p:cNvSpPr/>
          <p:nvPr/>
        </p:nvSpPr>
        <p:spPr>
          <a:xfrm>
            <a:off x="0" y="0"/>
            <a:ext cx="12191760" cy="61052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105240"/>
              <a:gd name="textAreaBottom" fmla="*/ 6105600 h 6105240"/>
            </a:gdLst>
            <a:ahLst/>
            <a:cxnLst/>
            <a:rect l="textAreaLeft" t="textAreaTop" r="textAreaRight" b="textAreaBottom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rotWithShape="0">
            <a:gsLst>
              <a:gs pos="0">
                <a:srgbClr val="CA2255"/>
              </a:gs>
              <a:gs pos="100000">
                <a:srgbClr val="DC34AD"/>
              </a:gs>
            </a:gsLst>
            <a:lin ang="7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venir Next LT Pro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1517760" y="1517760"/>
            <a:ext cx="9143640" cy="2852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indent="0">
              <a:lnSpc>
                <a:spcPct val="95000"/>
              </a:lnSpc>
              <a:buNone/>
            </a:pPr>
            <a:r>
              <a:rPr lang="en-US" sz="6000" b="0" strike="noStrike" spc="-52">
                <a:solidFill>
                  <a:srgbClr val="000000"/>
                </a:solidFill>
                <a:latin typeface="Aharoni"/>
              </a:rPr>
              <a:t>Click to edit Master title style</a:t>
            </a:r>
            <a:endParaRPr lang="fr-FR" sz="60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1517760" y="4572000"/>
            <a:ext cx="9143640" cy="1499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5000"/>
              </a:lnSpc>
              <a:spcBef>
                <a:spcPts val="9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venir Next LT Pro"/>
              </a:rPr>
              <a:t>Click to edit Master text styles</a:t>
            </a:r>
            <a:endParaRPr lang="fr-FR" sz="24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4"/>
          </p:nvPr>
        </p:nvSpPr>
        <p:spPr>
          <a:xfrm>
            <a:off x="8805600" y="6400800"/>
            <a:ext cx="18651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000" b="0" strike="noStrike" spc="-1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1000" b="0" strike="noStrike" spc="-1">
                <a:solidFill>
                  <a:srgbClr val="000000"/>
                </a:solidFill>
                <a:latin typeface="Avenir Next LT Pro"/>
              </a:rPr>
              <a:t>&lt;date/heure&gt;</a:t>
            </a:r>
            <a:endParaRPr lang="fr-CA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5"/>
          </p:nvPr>
        </p:nvSpPr>
        <p:spPr>
          <a:xfrm>
            <a:off x="758880" y="6400800"/>
            <a:ext cx="6098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lang="fr-CA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CA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7" name="PlaceHolder 5"/>
          <p:cNvSpPr>
            <a:spLocks noGrp="1"/>
          </p:cNvSpPr>
          <p:nvPr>
            <p:ph type="sldNum" idx="6"/>
          </p:nvPr>
        </p:nvSpPr>
        <p:spPr>
          <a:xfrm>
            <a:off x="10899720" y="6400800"/>
            <a:ext cx="529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000" b="1" strike="noStrike" spc="-1">
                <a:solidFill>
                  <a:srgbClr val="000000"/>
                </a:solidFill>
                <a:latin typeface="Avenir Next LT Pro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CAB11DB-CD0C-447C-BCA4-176784810A3D}" type="slidenum">
              <a:rPr lang="en-US" sz="1000" b="1" strike="noStrike" spc="-1">
                <a:solidFill>
                  <a:srgbClr val="000000"/>
                </a:solidFill>
                <a:latin typeface="Avenir Next LT Pro"/>
              </a:rPr>
              <a:t>‹N°›</a:t>
            </a:fld>
            <a:endParaRPr lang="fr-CA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" name="Rectangle 8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venir Next LT Pro"/>
            </a:endParaRPr>
          </a:p>
        </p:txBody>
      </p:sp>
      <p:sp>
        <p:nvSpPr>
          <p:cNvPr id="91" name="Rectangle 1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CA2255"/>
              </a:gs>
              <a:gs pos="100000">
                <a:srgbClr val="DC34AD"/>
              </a:gs>
            </a:gsLst>
            <a:lin ang="7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1" strike="noStrike" spc="-1">
              <a:solidFill>
                <a:srgbClr val="262626"/>
              </a:solidFill>
              <a:latin typeface="Avenir Next LT Pro"/>
            </a:endParaRPr>
          </a:p>
        </p:txBody>
      </p:sp>
      <p:sp useBgFill="1">
        <p:nvSpPr>
          <p:cNvPr id="92" name="Freeform: Shape 12"/>
          <p:cNvSpPr/>
          <p:nvPr/>
        </p:nvSpPr>
        <p:spPr>
          <a:xfrm>
            <a:off x="0" y="0"/>
            <a:ext cx="11429640" cy="6857640"/>
          </a:xfrm>
          <a:custGeom>
            <a:avLst/>
            <a:gdLst>
              <a:gd name="textAreaLeft" fmla="*/ 0 w 11429640"/>
              <a:gd name="textAreaRight" fmla="*/ 11430000 w 1142964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1430001" h="6858000">
                <a:moveTo>
                  <a:pt x="0" y="0"/>
                </a:moveTo>
                <a:lnTo>
                  <a:pt x="5330522" y="0"/>
                </a:lnTo>
                <a:lnTo>
                  <a:pt x="5334002" y="0"/>
                </a:lnTo>
                <a:lnTo>
                  <a:pt x="5334002" y="762270"/>
                </a:lnTo>
                <a:lnTo>
                  <a:pt x="11430001" y="762270"/>
                </a:lnTo>
                <a:lnTo>
                  <a:pt x="11430001" y="6094807"/>
                </a:lnTo>
                <a:lnTo>
                  <a:pt x="5330522" y="6094807"/>
                </a:lnTo>
                <a:lnTo>
                  <a:pt x="5330522" y="6858000"/>
                </a:lnTo>
                <a:lnTo>
                  <a:pt x="0" y="6858000"/>
                </a:lnTo>
                <a:lnTo>
                  <a:pt x="0" y="6094807"/>
                </a:lnTo>
                <a:close/>
              </a:path>
            </a:pathLst>
          </a:cu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venir Next LT Pro"/>
            </a:endParaRPr>
          </a:p>
        </p:txBody>
      </p: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5880" y="728640"/>
            <a:ext cx="4385880" cy="20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 indent="0" algn="ctr">
              <a:lnSpc>
                <a:spcPct val="95000"/>
              </a:lnSpc>
              <a:buNone/>
            </a:pPr>
            <a:r>
              <a:rPr lang="fr-FR" sz="4000" b="1" strike="noStrike" spc="-52">
                <a:solidFill>
                  <a:srgbClr val="000000"/>
                </a:solidFill>
                <a:latin typeface="Aharoni"/>
              </a:rPr>
              <a:t>Application Mobile de Suivi de Randonnée</a:t>
            </a:r>
            <a:endParaRPr lang="fr-FR" sz="40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6383160" y="4327560"/>
            <a:ext cx="4578840" cy="942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indent="0" algn="ctr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700" b="1" strike="noStrike" spc="-1" dirty="0">
                <a:solidFill>
                  <a:srgbClr val="000000"/>
                </a:solidFill>
                <a:latin typeface="Aharoni"/>
              </a:rPr>
              <a:t>Présenté par :      </a:t>
            </a:r>
            <a:r>
              <a:rPr lang="fr-FR" sz="1700" b="1" strike="noStrike" spc="-1" dirty="0" err="1">
                <a:solidFill>
                  <a:srgbClr val="000000"/>
                </a:solidFill>
                <a:latin typeface="Aharoni"/>
              </a:rPr>
              <a:t>Sahmi</a:t>
            </a:r>
            <a:r>
              <a:rPr lang="fr-FR" sz="1700" b="1" strike="noStrike" spc="-1" dirty="0">
                <a:solidFill>
                  <a:srgbClr val="000000"/>
                </a:solidFill>
                <a:latin typeface="Aharoni"/>
              </a:rPr>
              <a:t> Nacera </a:t>
            </a:r>
            <a:endParaRPr lang="fr-CA" sz="17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Image 9"/>
          <p:cNvPicPr/>
          <p:nvPr/>
        </p:nvPicPr>
        <p:blipFill>
          <a:blip r:embed="rId3"/>
          <a:stretch/>
        </p:blipFill>
        <p:spPr>
          <a:xfrm>
            <a:off x="0" y="0"/>
            <a:ext cx="5329080" cy="6857640"/>
          </a:xfrm>
          <a:prstGeom prst="rect">
            <a:avLst/>
          </a:prstGeom>
          <a:ln w="0">
            <a:noFill/>
          </a:ln>
        </p:spPr>
      </p:pic>
      <p:sp>
        <p:nvSpPr>
          <p:cNvPr id="96" name="Titre 1"/>
          <p:cNvSpPr/>
          <p:nvPr/>
        </p:nvSpPr>
        <p:spPr>
          <a:xfrm>
            <a:off x="6383160" y="3265200"/>
            <a:ext cx="4188240" cy="41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96500"/>
          </a:bodyPr>
          <a:lstStyle/>
          <a:p>
            <a:pPr algn="ctr">
              <a:lnSpc>
                <a:spcPct val="95000"/>
              </a:lnSpc>
            </a:pPr>
            <a:r>
              <a:rPr lang="fr-FR" sz="2000" b="1" strike="noStrike" spc="-52">
                <a:solidFill>
                  <a:srgbClr val="000000"/>
                </a:solidFill>
                <a:latin typeface="Aharoni"/>
              </a:rPr>
              <a:t>Projet en Informatique 1 - Été 2025</a:t>
            </a:r>
            <a:endParaRPr lang="fr-CA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1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" dur="1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10"/>
                            </p:stCondLst>
                            <p:childTnLst>
                              <p:par>
                                <p:cTn id="16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517760" y="947160"/>
            <a:ext cx="5260680" cy="1479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 indent="0">
              <a:lnSpc>
                <a:spcPct val="95000"/>
              </a:lnSpc>
              <a:buNone/>
            </a:pPr>
            <a:r>
              <a:rPr lang="fr-CA" sz="6000" b="0" strike="noStrike" spc="-52" dirty="0">
                <a:solidFill>
                  <a:srgbClr val="000000"/>
                </a:solidFill>
                <a:latin typeface="Times New Roman"/>
              </a:rPr>
              <a:t>Pourquoi </a:t>
            </a:r>
            <a:r>
              <a:rPr lang="fr-CA" sz="6000" b="0" i="1" strike="noStrike" spc="-52" dirty="0" err="1">
                <a:solidFill>
                  <a:srgbClr val="000000"/>
                </a:solidFill>
                <a:latin typeface="Times New Roman"/>
              </a:rPr>
              <a:t>iHike</a:t>
            </a:r>
            <a:r>
              <a:rPr lang="fr-CA" sz="6000" b="0" strike="noStrike" spc="-52" dirty="0">
                <a:solidFill>
                  <a:srgbClr val="000000"/>
                </a:solidFill>
                <a:latin typeface="Times New Roman"/>
              </a:rPr>
              <a:t> ?</a:t>
            </a:r>
            <a:endParaRPr lang="fr-FR" sz="6000" b="0" strike="noStrike" spc="-1" dirty="0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1517760" y="2426760"/>
            <a:ext cx="9143640" cy="978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85840" indent="-285840">
              <a:lnSpc>
                <a:spcPct val="105000"/>
              </a:lnSpc>
              <a:spcBef>
                <a:spcPts val="901"/>
              </a:spcBef>
              <a:buClr>
                <a:srgbClr val="AFA829"/>
              </a:buClr>
              <a:buFont typeface="Arial"/>
              <a:buChar char="•"/>
            </a:pPr>
            <a:r>
              <a:rPr lang="fr-FR" sz="2400" b="0" strike="noStrike" spc="-1">
                <a:solidFill>
                  <a:srgbClr val="000000"/>
                </a:solidFill>
                <a:latin typeface="Times New Roman"/>
              </a:rPr>
              <a:t>La randonnée est une activité populaire, mais l’expérience numérique reste fragmentée.</a:t>
            </a:r>
            <a:endParaRPr lang="fr-FR" sz="2400" b="0" strike="noStrike" spc="-1">
              <a:solidFill>
                <a:srgbClr val="000000"/>
              </a:solidFill>
              <a:latin typeface="Avenir Next LT Pro"/>
            </a:endParaRPr>
          </a:p>
          <a:p>
            <a:pPr indent="0">
              <a:lnSpc>
                <a:spcPct val="105000"/>
              </a:lnSpc>
              <a:spcBef>
                <a:spcPts val="901"/>
              </a:spcBef>
              <a:buNone/>
            </a:pPr>
            <a:endParaRPr lang="fr-FR" sz="24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99" name="Espace réservé du texte 2"/>
          <p:cNvSpPr/>
          <p:nvPr/>
        </p:nvSpPr>
        <p:spPr>
          <a:xfrm>
            <a:off x="1396080" y="3753000"/>
            <a:ext cx="9143640" cy="12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05000"/>
              </a:lnSpc>
              <a:spcBef>
                <a:spcPts val="901"/>
              </a:spcBef>
              <a:tabLst>
                <a:tab pos="0" algn="l"/>
              </a:tabLst>
            </a:pPr>
            <a:endParaRPr lang="fr-CA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  <a:spcBef>
                <a:spcPts val="901"/>
              </a:spcBef>
              <a:tabLst>
                <a:tab pos="0" algn="l"/>
              </a:tabLst>
            </a:pPr>
            <a:endParaRPr lang="fr-CA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Espace réservé du texte 2"/>
          <p:cNvSpPr/>
          <p:nvPr/>
        </p:nvSpPr>
        <p:spPr>
          <a:xfrm>
            <a:off x="1517760" y="3405600"/>
            <a:ext cx="9143640" cy="97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285840" indent="-285840">
              <a:lnSpc>
                <a:spcPct val="105000"/>
              </a:lnSpc>
              <a:spcBef>
                <a:spcPts val="901"/>
              </a:spcBef>
              <a:buClr>
                <a:srgbClr val="AFA829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rgbClr val="000000"/>
                </a:solidFill>
                <a:latin typeface="Times New Roman"/>
              </a:rPr>
              <a:t>Les randonneurs utilisent plusieurs applications séparées pour le GPS, les photos, les cartes et l’historique.</a:t>
            </a:r>
            <a:endParaRPr lang="fr-CA" sz="24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  <a:spcBef>
                <a:spcPts val="901"/>
              </a:spcBef>
            </a:pPr>
            <a:endParaRPr lang="fr-CA" sz="24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  <a:spcBef>
                <a:spcPts val="901"/>
              </a:spcBef>
            </a:pPr>
            <a:endParaRPr lang="fr-CA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Espace réservé du texte 2"/>
          <p:cNvSpPr/>
          <p:nvPr/>
        </p:nvSpPr>
        <p:spPr>
          <a:xfrm>
            <a:off x="1517760" y="4542480"/>
            <a:ext cx="9143640" cy="97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285840" indent="-285840">
              <a:lnSpc>
                <a:spcPct val="105000"/>
              </a:lnSpc>
              <a:spcBef>
                <a:spcPts val="901"/>
              </a:spcBef>
              <a:buClr>
                <a:srgbClr val="AFA829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rgbClr val="000000"/>
                </a:solidFill>
                <a:latin typeface="Times New Roman"/>
              </a:rPr>
              <a:t>Besoin d’une solution simple et unifiée qui centralise toutes ces fonctionnalités essentielles.</a:t>
            </a:r>
            <a:endParaRPr lang="fr-CA" sz="24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  <a:spcBef>
                <a:spcPts val="901"/>
              </a:spcBef>
            </a:pPr>
            <a:endParaRPr lang="fr-CA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954000" y="870120"/>
            <a:ext cx="7742520" cy="1384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 indent="0">
              <a:lnSpc>
                <a:spcPct val="95000"/>
              </a:lnSpc>
              <a:buNone/>
            </a:pPr>
            <a:r>
              <a:rPr lang="fr-CA" sz="6000" b="0" strike="noStrike" spc="-52" dirty="0">
                <a:solidFill>
                  <a:srgbClr val="000000"/>
                </a:solidFill>
                <a:latin typeface="Times New Roman"/>
              </a:rPr>
              <a:t>Objectifs du projet </a:t>
            </a:r>
            <a:r>
              <a:rPr lang="fr-CA" sz="6000" b="0" i="1" strike="noStrike" spc="-52" dirty="0" err="1">
                <a:solidFill>
                  <a:srgbClr val="000000"/>
                </a:solidFill>
                <a:latin typeface="Times New Roman"/>
              </a:rPr>
              <a:t>iHike</a:t>
            </a:r>
            <a:endParaRPr lang="fr-FR" sz="6000" b="0" strike="noStrike" spc="-1" dirty="0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1015920" y="2544120"/>
            <a:ext cx="9143640" cy="779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85840" indent="-285840">
              <a:lnSpc>
                <a:spcPct val="105000"/>
              </a:lnSpc>
              <a:spcBef>
                <a:spcPts val="901"/>
              </a:spcBef>
              <a:buClr>
                <a:srgbClr val="AFA829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rgbClr val="000000"/>
                </a:solidFill>
                <a:latin typeface="Times New Roman"/>
              </a:rPr>
              <a:t>Créer une application mobile intuitive dédiée aux randonneurs.</a:t>
            </a:r>
            <a:endParaRPr lang="fr-FR" sz="2400" b="0" strike="noStrike" spc="-1" dirty="0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04" name="Espace réservé du texte 2"/>
          <p:cNvSpPr/>
          <p:nvPr/>
        </p:nvSpPr>
        <p:spPr>
          <a:xfrm>
            <a:off x="1015920" y="3057120"/>
            <a:ext cx="9143640" cy="12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8000" lnSpcReduction="10000"/>
          </a:bodyPr>
          <a:lstStyle/>
          <a:p>
            <a:pPr>
              <a:lnSpc>
                <a:spcPct val="105000"/>
              </a:lnSpc>
              <a:spcBef>
                <a:spcPts val="901"/>
              </a:spcBef>
              <a:tabLst>
                <a:tab pos="0" algn="l"/>
              </a:tabLst>
            </a:pPr>
            <a:endParaRPr lang="fr-CA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271800" indent="-271800">
              <a:lnSpc>
                <a:spcPct val="105000"/>
              </a:lnSpc>
              <a:spcBef>
                <a:spcPts val="901"/>
              </a:spcBef>
              <a:buClr>
                <a:srgbClr val="AFA829"/>
              </a:buClr>
              <a:buFont typeface="Arial"/>
              <a:buChar char="•"/>
              <a:tabLst>
                <a:tab pos="0" algn="l"/>
              </a:tabLst>
            </a:pPr>
            <a:r>
              <a:rPr lang="fr-FR" sz="2600" b="0" strike="noStrike" spc="-1" dirty="0">
                <a:solidFill>
                  <a:srgbClr val="000000"/>
                </a:solidFill>
                <a:latin typeface="Times New Roman"/>
              </a:rPr>
              <a:t>Intégrer dans une seule plateforme : suivi GPS, prise de photos </a:t>
            </a:r>
            <a:r>
              <a:rPr lang="fr-FR" sz="2600" b="0" strike="noStrike" spc="-1" dirty="0" err="1">
                <a:solidFill>
                  <a:srgbClr val="000000"/>
                </a:solidFill>
                <a:latin typeface="Times New Roman"/>
              </a:rPr>
              <a:t>géolocalisées</a:t>
            </a:r>
            <a:r>
              <a:rPr lang="fr-FR" sz="2600" b="0" strike="noStrike" spc="-1" dirty="0">
                <a:solidFill>
                  <a:srgbClr val="000000"/>
                </a:solidFill>
                <a:latin typeface="Times New Roman"/>
              </a:rPr>
              <a:t> et consultation d’historique.</a:t>
            </a:r>
            <a:endParaRPr lang="fr-CA" sz="2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  <a:spcBef>
                <a:spcPts val="901"/>
              </a:spcBef>
              <a:tabLst>
                <a:tab pos="0" algn="l"/>
              </a:tabLst>
            </a:pPr>
            <a:endParaRPr lang="fr-CA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Espace réservé du texte 2"/>
          <p:cNvSpPr/>
          <p:nvPr/>
        </p:nvSpPr>
        <p:spPr>
          <a:xfrm>
            <a:off x="1015920" y="4113360"/>
            <a:ext cx="8196480" cy="13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>
              <a:lnSpc>
                <a:spcPct val="105000"/>
              </a:lnSpc>
              <a:spcBef>
                <a:spcPts val="901"/>
              </a:spcBef>
              <a:tabLst>
                <a:tab pos="0" algn="l"/>
              </a:tabLst>
            </a:pPr>
            <a:endParaRPr lang="fr-CA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5000"/>
              </a:lnSpc>
              <a:spcBef>
                <a:spcPts val="901"/>
              </a:spcBef>
              <a:buClr>
                <a:srgbClr val="AFA829"/>
              </a:buClr>
              <a:buFont typeface="Arial"/>
              <a:buChar char="•"/>
              <a:tabLst>
                <a:tab pos="0" algn="l"/>
              </a:tabLst>
            </a:pPr>
            <a:r>
              <a:rPr lang="fr-FR" sz="2400" b="0" strike="noStrike" spc="-1" dirty="0">
                <a:solidFill>
                  <a:srgbClr val="000000"/>
                </a:solidFill>
                <a:latin typeface="Times New Roman"/>
              </a:rPr>
              <a:t>Offrir une expérience fluide, accessible et adaptée aux différents types d’utilisateurs (iOS et Android).</a:t>
            </a:r>
            <a:endParaRPr lang="fr-CA" sz="24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  <a:spcBef>
                <a:spcPts val="901"/>
              </a:spcBef>
              <a:tabLst>
                <a:tab pos="0" algn="l"/>
              </a:tabLst>
            </a:pPr>
            <a:endParaRPr lang="fr-CA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0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490400" y="959400"/>
            <a:ext cx="9055800" cy="13503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 indent="0">
              <a:lnSpc>
                <a:spcPct val="95000"/>
              </a:lnSpc>
              <a:buNone/>
            </a:pPr>
            <a:r>
              <a:rPr lang="fr-CA" sz="6000" b="0" strike="noStrike" spc="-52" dirty="0">
                <a:solidFill>
                  <a:srgbClr val="000000"/>
                </a:solidFill>
                <a:latin typeface="Times New Roman"/>
              </a:rPr>
              <a:t>Fonctionnalités principales</a:t>
            </a:r>
            <a:endParaRPr lang="fr-FR" sz="6000" b="0" strike="noStrike" spc="-1" dirty="0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07" name="ZoneTexte 2"/>
          <p:cNvSpPr/>
          <p:nvPr/>
        </p:nvSpPr>
        <p:spPr>
          <a:xfrm>
            <a:off x="2564280" y="2672640"/>
            <a:ext cx="798156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2000" b="0" strike="noStrike" spc="-1" dirty="0">
                <a:solidFill>
                  <a:srgbClr val="000000"/>
                </a:solidFill>
                <a:latin typeface="Avenir Next LT Pro"/>
              </a:rPr>
              <a:t> </a:t>
            </a: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Suivi GPS en temps réel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" name="Image 4"/>
          <p:cNvPicPr/>
          <p:nvPr/>
        </p:nvPicPr>
        <p:blipFill>
          <a:blip r:embed="rId3"/>
          <a:stretch/>
        </p:blipFill>
        <p:spPr>
          <a:xfrm>
            <a:off x="2310480" y="2672640"/>
            <a:ext cx="253800" cy="329760"/>
          </a:xfrm>
          <a:prstGeom prst="rect">
            <a:avLst/>
          </a:prstGeom>
          <a:ln w="0">
            <a:noFill/>
          </a:ln>
        </p:spPr>
      </p:pic>
      <p:sp>
        <p:nvSpPr>
          <p:cNvPr id="109" name="ZoneTexte 6"/>
          <p:cNvSpPr/>
          <p:nvPr/>
        </p:nvSpPr>
        <p:spPr>
          <a:xfrm>
            <a:off x="3196800" y="3221280"/>
            <a:ext cx="470916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CA" sz="2000" b="0" strike="noStrike" spc="-1" dirty="0">
                <a:solidFill>
                  <a:srgbClr val="000000"/>
                </a:solidFill>
                <a:latin typeface="Times New Roman"/>
              </a:rPr>
              <a:t>Prise de photos </a:t>
            </a:r>
            <a:r>
              <a:rPr lang="fr-CA" sz="2000" b="0" strike="noStrike" spc="-1" dirty="0" err="1">
                <a:solidFill>
                  <a:srgbClr val="000000"/>
                </a:solidFill>
                <a:latin typeface="Times New Roman"/>
              </a:rPr>
              <a:t>géolocalisées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Picture 2" descr="Image générée"/>
          <p:cNvPicPr/>
          <p:nvPr/>
        </p:nvPicPr>
        <p:blipFill>
          <a:blip r:embed="rId4"/>
          <a:stretch/>
        </p:blipFill>
        <p:spPr>
          <a:xfrm>
            <a:off x="2665080" y="3110400"/>
            <a:ext cx="621000" cy="621000"/>
          </a:xfrm>
          <a:prstGeom prst="rect">
            <a:avLst/>
          </a:prstGeom>
          <a:ln w="0">
            <a:noFill/>
          </a:ln>
        </p:spPr>
      </p:pic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3691080" y="3862800"/>
            <a:ext cx="3871800" cy="728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indent="0">
              <a:lnSpc>
                <a:spcPct val="105000"/>
              </a:lnSpc>
              <a:spcBef>
                <a:spcPts val="901"/>
              </a:spcBef>
              <a:buNone/>
              <a:tabLst>
                <a:tab pos="0" algn="l"/>
              </a:tabLst>
            </a:pP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Historique des randonnées</a:t>
            </a:r>
            <a:endParaRPr lang="fr-FR" sz="2000" b="0" strike="noStrike" spc="-1" dirty="0">
              <a:solidFill>
                <a:srgbClr val="000000"/>
              </a:solidFill>
              <a:latin typeface="Avenir Next LT Pro"/>
            </a:endParaRPr>
          </a:p>
        </p:txBody>
      </p:sp>
      <p:pic>
        <p:nvPicPr>
          <p:cNvPr id="112" name="Image 9"/>
          <p:cNvPicPr/>
          <p:nvPr/>
        </p:nvPicPr>
        <p:blipFill>
          <a:blip r:embed="rId5"/>
          <a:stretch/>
        </p:blipFill>
        <p:spPr>
          <a:xfrm>
            <a:off x="3286440" y="3842640"/>
            <a:ext cx="413640" cy="364680"/>
          </a:xfrm>
          <a:prstGeom prst="rect">
            <a:avLst/>
          </a:prstGeom>
          <a:ln w="0">
            <a:noFill/>
          </a:ln>
        </p:spPr>
      </p:pic>
      <p:sp>
        <p:nvSpPr>
          <p:cNvPr id="113" name="Espace réservé du texte 2"/>
          <p:cNvSpPr/>
          <p:nvPr/>
        </p:nvSpPr>
        <p:spPr>
          <a:xfrm>
            <a:off x="4574520" y="4544640"/>
            <a:ext cx="7969320" cy="57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05000"/>
              </a:lnSpc>
              <a:spcBef>
                <a:spcPts val="901"/>
              </a:spcBef>
              <a:tabLst>
                <a:tab pos="0" algn="l"/>
              </a:tabLst>
            </a:pP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Sauvegarde Cloud 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Image 11"/>
          <p:cNvPicPr/>
          <p:nvPr/>
        </p:nvPicPr>
        <p:blipFill>
          <a:blip r:embed="rId6"/>
          <a:stretch/>
        </p:blipFill>
        <p:spPr>
          <a:xfrm>
            <a:off x="4074120" y="4534560"/>
            <a:ext cx="539640" cy="408240"/>
          </a:xfrm>
          <a:prstGeom prst="rect">
            <a:avLst/>
          </a:prstGeom>
          <a:ln w="0">
            <a:noFill/>
          </a:ln>
        </p:spPr>
      </p:pic>
      <p:sp>
        <p:nvSpPr>
          <p:cNvPr id="115" name="Espace réservé du texte 2"/>
          <p:cNvSpPr/>
          <p:nvPr/>
        </p:nvSpPr>
        <p:spPr>
          <a:xfrm>
            <a:off x="5403960" y="5272200"/>
            <a:ext cx="1946880" cy="40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>
              <a:lnSpc>
                <a:spcPct val="105000"/>
              </a:lnSpc>
              <a:spcBef>
                <a:spcPts val="901"/>
              </a:spcBef>
              <a:tabLst>
                <a:tab pos="0" algn="l"/>
              </a:tabLst>
            </a:pP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Authentification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Picture 2" descr="Image générée"/>
          <p:cNvPicPr/>
          <p:nvPr/>
        </p:nvPicPr>
        <p:blipFill>
          <a:blip r:embed="rId7"/>
          <a:stretch/>
        </p:blipFill>
        <p:spPr>
          <a:xfrm>
            <a:off x="4892760" y="5259240"/>
            <a:ext cx="510840" cy="510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/>
      <p:bldP spid="109" grpId="0"/>
      <p:bldP spid="111" grpId="0" build="p"/>
      <p:bldP spid="113" grpId="0"/>
      <p:bldP spid="1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6"/>
          <p:cNvSpPr/>
          <p:nvPr/>
        </p:nvSpPr>
        <p:spPr>
          <a:xfrm>
            <a:off x="1753200" y="1187640"/>
            <a:ext cx="79815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2000" b="0" strike="noStrike" spc="-1" dirty="0">
                <a:solidFill>
                  <a:srgbClr val="000000"/>
                </a:solidFill>
                <a:latin typeface="Avenir Next LT Pro"/>
              </a:rPr>
              <a:t> </a:t>
            </a:r>
            <a:r>
              <a:rPr lang="fr-FR" sz="2400" b="1" strike="noStrike" spc="-1" dirty="0">
                <a:solidFill>
                  <a:srgbClr val="000000"/>
                </a:solidFill>
                <a:latin typeface="Times New Roman"/>
              </a:rPr>
              <a:t>Suivi GPS en temps réel</a:t>
            </a:r>
            <a:endParaRPr lang="fr-CA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Image 7"/>
          <p:cNvPicPr/>
          <p:nvPr/>
        </p:nvPicPr>
        <p:blipFill>
          <a:blip r:embed="rId3"/>
          <a:stretch/>
        </p:blipFill>
        <p:spPr>
          <a:xfrm>
            <a:off x="1499040" y="1187640"/>
            <a:ext cx="291960" cy="379440"/>
          </a:xfrm>
          <a:prstGeom prst="rect">
            <a:avLst/>
          </a:prstGeom>
          <a:ln w="0">
            <a:noFill/>
          </a:ln>
        </p:spPr>
      </p:pic>
      <p:sp>
        <p:nvSpPr>
          <p:cNvPr id="119" name="ZoneTexte 5"/>
          <p:cNvSpPr/>
          <p:nvPr/>
        </p:nvSpPr>
        <p:spPr>
          <a:xfrm>
            <a:off x="1148040" y="1790280"/>
            <a:ext cx="66481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2000" b="1" strike="noStrike" spc="-1" dirty="0">
                <a:solidFill>
                  <a:srgbClr val="C00000"/>
                </a:solidFill>
                <a:latin typeface="Times New Roman"/>
              </a:rPr>
              <a:t>Fonction : </a:t>
            </a: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Trace le parcours sur la carte en temps réel.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ZoneTexte 9"/>
          <p:cNvSpPr/>
          <p:nvPr/>
        </p:nvSpPr>
        <p:spPr>
          <a:xfrm>
            <a:off x="1148040" y="2450880"/>
            <a:ext cx="66481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2000" b="1" strike="noStrike" spc="-1" dirty="0">
                <a:solidFill>
                  <a:srgbClr val="C00000"/>
                </a:solidFill>
                <a:latin typeface="Times New Roman"/>
              </a:rPr>
              <a:t>Principe :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ZoneTexte 8"/>
          <p:cNvSpPr/>
          <p:nvPr/>
        </p:nvSpPr>
        <p:spPr>
          <a:xfrm flipH="1">
            <a:off x="1790640" y="3279600"/>
            <a:ext cx="422388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fr-CA" sz="1800" b="0" strike="noStrike" spc="-1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23" name="Rectangle 11"/>
          <p:cNvSpPr/>
          <p:nvPr/>
        </p:nvSpPr>
        <p:spPr>
          <a:xfrm>
            <a:off x="1148040" y="3111120"/>
            <a:ext cx="77824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800" b="0" strike="noStrike" spc="-1" dirty="0">
                <a:solidFill>
                  <a:srgbClr val="000000"/>
                </a:solidFill>
                <a:latin typeface="Times New Roman"/>
              </a:rPr>
              <a:t>Utilisation d’expo-location pour obtenir la position GPS à intervalles réguliers.</a:t>
            </a:r>
            <a:endParaRPr lang="fr-CA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ZoneTexte 12"/>
          <p:cNvSpPr/>
          <p:nvPr/>
        </p:nvSpPr>
        <p:spPr>
          <a:xfrm>
            <a:off x="1148040" y="3740400"/>
            <a:ext cx="778248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800" b="0" strike="noStrike" spc="-1">
                <a:solidFill>
                  <a:srgbClr val="000000"/>
                </a:solidFill>
                <a:latin typeface="Times New Roman"/>
              </a:rPr>
              <a:t>Chaque nouvelle position est ajoutée au store Redux (addPoint) et affichée sur la carte avec &lt;Polyline&gt;.</a:t>
            </a:r>
            <a:endParaRPr lang="fr-CA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ZoneTexte 13"/>
          <p:cNvSpPr/>
          <p:nvPr/>
        </p:nvSpPr>
        <p:spPr>
          <a:xfrm>
            <a:off x="1148040" y="4646520"/>
            <a:ext cx="76860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800" b="0" strike="noStrike" spc="-1" dirty="0">
                <a:solidFill>
                  <a:srgbClr val="000000"/>
                </a:solidFill>
                <a:latin typeface="Times New Roman"/>
              </a:rPr>
              <a:t>Filtrage des points trop imprécis ou incohérents pour plus de précision</a:t>
            </a:r>
            <a:r>
              <a:rPr lang="fr-FR" sz="1800" b="0" strike="noStrike" spc="-1" dirty="0">
                <a:solidFill>
                  <a:srgbClr val="000000"/>
                </a:solidFill>
                <a:latin typeface="Avenir Next LT Pro"/>
              </a:rPr>
              <a:t>.</a:t>
            </a:r>
            <a:endParaRPr lang="fr-CA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ZoneTexte 14"/>
          <p:cNvSpPr/>
          <p:nvPr/>
        </p:nvSpPr>
        <p:spPr>
          <a:xfrm>
            <a:off x="1148040" y="5389560"/>
            <a:ext cx="68130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800" b="0" strike="noStrike" spc="-1" dirty="0">
                <a:solidFill>
                  <a:srgbClr val="000000"/>
                </a:solidFill>
                <a:latin typeface="Times New Roman"/>
              </a:rPr>
              <a:t>Distance et temps calculés en direct et affichés</a:t>
            </a:r>
            <a:r>
              <a:rPr lang="fr-FR" sz="1800" b="0" strike="noStrike" spc="-1" dirty="0">
                <a:solidFill>
                  <a:srgbClr val="000000"/>
                </a:solidFill>
                <a:latin typeface="Avenir Next LT Pro"/>
              </a:rPr>
              <a:t>.</a:t>
            </a:r>
            <a:endParaRPr lang="fr-CA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370" y="566440"/>
            <a:ext cx="8310401" cy="5817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/>
      <p:bldP spid="119" grpId="0"/>
      <p:bldP spid="120" grpId="0"/>
      <p:bldP spid="123" grpId="0"/>
      <p:bldP spid="124" grpId="0"/>
      <p:bldP spid="125" grpId="0"/>
      <p:bldP spid="1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ZoneTexte 3"/>
          <p:cNvSpPr/>
          <p:nvPr/>
        </p:nvSpPr>
        <p:spPr>
          <a:xfrm>
            <a:off x="1354320" y="1093320"/>
            <a:ext cx="47091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CA" sz="2400" b="1" strike="noStrike" spc="-1" dirty="0">
                <a:solidFill>
                  <a:srgbClr val="000000"/>
                </a:solidFill>
                <a:latin typeface="Times New Roman"/>
              </a:rPr>
              <a:t>Prise de photos </a:t>
            </a:r>
            <a:r>
              <a:rPr lang="fr-CA" sz="2400" b="1" strike="noStrike" spc="-1" dirty="0" err="1">
                <a:solidFill>
                  <a:srgbClr val="000000"/>
                </a:solidFill>
                <a:latin typeface="Times New Roman"/>
              </a:rPr>
              <a:t>géolocalisées</a:t>
            </a:r>
            <a:endParaRPr lang="fr-CA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" name="Picture 2" descr="Image générée"/>
          <p:cNvPicPr/>
          <p:nvPr/>
        </p:nvPicPr>
        <p:blipFill>
          <a:blip r:embed="rId2"/>
          <a:stretch/>
        </p:blipFill>
        <p:spPr>
          <a:xfrm>
            <a:off x="788040" y="999360"/>
            <a:ext cx="649080" cy="649080"/>
          </a:xfrm>
          <a:prstGeom prst="rect">
            <a:avLst/>
          </a:prstGeom>
          <a:ln w="0">
            <a:noFill/>
          </a:ln>
        </p:spPr>
      </p:pic>
      <p:sp>
        <p:nvSpPr>
          <p:cNvPr id="130" name="ZoneTexte 5"/>
          <p:cNvSpPr/>
          <p:nvPr/>
        </p:nvSpPr>
        <p:spPr>
          <a:xfrm>
            <a:off x="1148040" y="1790280"/>
            <a:ext cx="783720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2000" b="1" strike="noStrike" spc="-1" dirty="0">
                <a:solidFill>
                  <a:srgbClr val="C00000"/>
                </a:solidFill>
                <a:latin typeface="Times New Roman"/>
              </a:rPr>
              <a:t>Fonction : </a:t>
            </a: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Capturer une photo pendant la randonnée et l’enregistrer avec   	    ses coordonnées (et l’adresse) pour l’afficher sur la carte.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ZoneTexte 6"/>
          <p:cNvSpPr/>
          <p:nvPr/>
        </p:nvSpPr>
        <p:spPr>
          <a:xfrm>
            <a:off x="1148040" y="2450880"/>
            <a:ext cx="66481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2000" b="1" strike="noStrike" spc="-1" dirty="0">
                <a:solidFill>
                  <a:srgbClr val="C00000"/>
                </a:solidFill>
                <a:latin typeface="Times New Roman"/>
              </a:rPr>
              <a:t>Principe :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ectangle 7"/>
          <p:cNvSpPr/>
          <p:nvPr/>
        </p:nvSpPr>
        <p:spPr>
          <a:xfrm>
            <a:off x="1148040" y="3027960"/>
            <a:ext cx="77824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Demander les permissions </a:t>
            </a:r>
            <a:r>
              <a:rPr lang="fr-FR" sz="2000" b="1" strike="noStrike" spc="-1" dirty="0">
                <a:solidFill>
                  <a:srgbClr val="000000"/>
                </a:solidFill>
                <a:latin typeface="Times New Roman"/>
              </a:rPr>
              <a:t>caméra</a:t>
            </a: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 et </a:t>
            </a:r>
            <a:r>
              <a:rPr lang="fr-FR" sz="2000" b="1" strike="noStrike" spc="-1" dirty="0">
                <a:solidFill>
                  <a:srgbClr val="000000"/>
                </a:solidFill>
                <a:latin typeface="Times New Roman"/>
              </a:rPr>
              <a:t>localisation</a:t>
            </a: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.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ZoneTexte 8"/>
          <p:cNvSpPr/>
          <p:nvPr/>
        </p:nvSpPr>
        <p:spPr>
          <a:xfrm>
            <a:off x="1148040" y="3656880"/>
            <a:ext cx="77824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Ouvrir la caméra (Expo Camera) et </a:t>
            </a:r>
            <a:r>
              <a:rPr lang="fr-FR" sz="2000" b="1" strike="noStrike" spc="-1" dirty="0">
                <a:solidFill>
                  <a:srgbClr val="000000"/>
                </a:solidFill>
                <a:latin typeface="Times New Roman"/>
              </a:rPr>
              <a:t>prendre la photo.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ZoneTexte 9"/>
          <p:cNvSpPr/>
          <p:nvPr/>
        </p:nvSpPr>
        <p:spPr>
          <a:xfrm>
            <a:off x="1112760" y="4304520"/>
            <a:ext cx="820260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Récupérer la </a:t>
            </a:r>
            <a:r>
              <a:rPr lang="fr-FR" sz="2000" b="1" strike="noStrike" spc="-1" dirty="0">
                <a:solidFill>
                  <a:srgbClr val="000000"/>
                </a:solidFill>
                <a:latin typeface="Times New Roman"/>
              </a:rPr>
              <a:t>position</a:t>
            </a: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 (latitude/longitude) et, l’</a:t>
            </a:r>
            <a:r>
              <a:rPr lang="fr-FR" sz="2000" b="1" strike="noStrike" spc="-1" dirty="0">
                <a:solidFill>
                  <a:srgbClr val="000000"/>
                </a:solidFill>
                <a:latin typeface="Times New Roman"/>
              </a:rPr>
              <a:t>adresse</a:t>
            </a: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 (reverse </a:t>
            </a:r>
            <a:r>
              <a:rPr lang="fr-FR" sz="2000" b="0" strike="noStrike" spc="-1" dirty="0" err="1">
                <a:solidFill>
                  <a:srgbClr val="000000"/>
                </a:solidFill>
                <a:latin typeface="Times New Roman"/>
              </a:rPr>
              <a:t>geocoding</a:t>
            </a: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).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ZoneTexte 10"/>
          <p:cNvSpPr/>
          <p:nvPr/>
        </p:nvSpPr>
        <p:spPr>
          <a:xfrm>
            <a:off x="1148040" y="4952520"/>
            <a:ext cx="681300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Création d’une photo avec coordonnées GPS et adresse.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ZoneTexte 11"/>
          <p:cNvSpPr/>
          <p:nvPr/>
        </p:nvSpPr>
        <p:spPr>
          <a:xfrm>
            <a:off x="1157400" y="5498640"/>
            <a:ext cx="796536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Sauvegarde des données dans </a:t>
            </a:r>
            <a:r>
              <a:rPr lang="fr-FR" sz="2000" b="1" strike="noStrike" spc="-1" dirty="0" err="1">
                <a:solidFill>
                  <a:srgbClr val="000000"/>
                </a:solidFill>
                <a:latin typeface="Times New Roman"/>
              </a:rPr>
              <a:t>Redux</a:t>
            </a: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 (affichage immédiat) et </a:t>
            </a:r>
            <a:r>
              <a:rPr lang="fr-FR" sz="2000" b="1" strike="noStrike" spc="-1" dirty="0" err="1">
                <a:solidFill>
                  <a:srgbClr val="000000"/>
                </a:solidFill>
                <a:latin typeface="Times New Roman"/>
              </a:rPr>
              <a:t>Firestore</a:t>
            </a: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 (persistance).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ZoneTexte 12"/>
          <p:cNvSpPr/>
          <p:nvPr/>
        </p:nvSpPr>
        <p:spPr>
          <a:xfrm>
            <a:off x="1148040" y="6232320"/>
            <a:ext cx="79747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Affichage sur la carte avec vignette cliquable ouvrant un aperçu (Modal).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/>
      <p:bldP spid="130" grpId="0"/>
      <p:bldP spid="131" grpId="0"/>
      <p:bldP spid="132" grpId="0"/>
      <p:bldP spid="133" grpId="0"/>
      <p:bldP spid="134" grpId="0"/>
      <p:bldP spid="135" grpId="0"/>
      <p:bldP spid="136" grpId="0"/>
      <p:bldP spid="1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ZoneTexte 5"/>
          <p:cNvSpPr/>
          <p:nvPr/>
        </p:nvSpPr>
        <p:spPr>
          <a:xfrm>
            <a:off x="889985" y="6064518"/>
            <a:ext cx="32839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CA" sz="1800" b="0" strike="noStrike" spc="-1" dirty="0">
                <a:solidFill>
                  <a:srgbClr val="000000"/>
                </a:solidFill>
                <a:latin typeface="Times New Roman"/>
              </a:rPr>
              <a:t>Carte avec photos </a:t>
            </a:r>
            <a:r>
              <a:rPr lang="fr-CA" sz="1800" b="0" strike="noStrike" spc="-1" dirty="0" err="1">
                <a:solidFill>
                  <a:srgbClr val="000000"/>
                </a:solidFill>
                <a:latin typeface="Times New Roman"/>
              </a:rPr>
              <a:t>géolocalisées</a:t>
            </a:r>
            <a:endParaRPr lang="fr-CA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ZoneTexte 6"/>
          <p:cNvSpPr/>
          <p:nvPr/>
        </p:nvSpPr>
        <p:spPr>
          <a:xfrm>
            <a:off x="7963074" y="6029712"/>
            <a:ext cx="387720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b="0" strike="noStrike" spc="-1" dirty="0">
                <a:solidFill>
                  <a:srgbClr val="000000"/>
                </a:solidFill>
                <a:latin typeface="Times New Roman"/>
              </a:rPr>
              <a:t>Aperçu photo avec adresse et date</a:t>
            </a:r>
            <a:endParaRPr lang="fr-CA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48218" y="475376"/>
            <a:ext cx="8880340" cy="6216238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797" y="0"/>
            <a:ext cx="9674151" cy="642847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985" y="60348"/>
            <a:ext cx="9813022" cy="6004170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4444366" y="5512432"/>
            <a:ext cx="3193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Galerie des photos </a:t>
            </a:r>
            <a:r>
              <a:rPr lang="fr-C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géolocalisées</a:t>
            </a:r>
            <a:endParaRPr lang="fr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/>
      <p:bldP spid="142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/>
          </p:nvPr>
        </p:nvSpPr>
        <p:spPr>
          <a:xfrm>
            <a:off x="1387440" y="1203120"/>
            <a:ext cx="4388410" cy="728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5000"/>
              </a:lnSpc>
              <a:spcBef>
                <a:spcPts val="901"/>
              </a:spcBef>
              <a:buNone/>
              <a:tabLst>
                <a:tab pos="0" algn="l"/>
              </a:tabLst>
            </a:pPr>
            <a:r>
              <a:rPr lang="fr-FR" sz="2400" b="1" strike="noStrike" spc="-1" dirty="0">
                <a:solidFill>
                  <a:srgbClr val="000000"/>
                </a:solidFill>
                <a:latin typeface="Times New Roman"/>
              </a:rPr>
              <a:t>Historique des randonnées</a:t>
            </a:r>
            <a:endParaRPr lang="fr-FR" sz="2400" b="0" strike="noStrike" spc="-1" dirty="0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44" name="ZoneTexte 3"/>
          <p:cNvSpPr/>
          <p:nvPr/>
        </p:nvSpPr>
        <p:spPr>
          <a:xfrm>
            <a:off x="1148040" y="1790280"/>
            <a:ext cx="829116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2000" b="1" strike="noStrike" spc="-1" dirty="0">
                <a:solidFill>
                  <a:srgbClr val="C00000"/>
                </a:solidFill>
                <a:latin typeface="Times New Roman"/>
              </a:rPr>
              <a:t>Fonction : </a:t>
            </a: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Permet de consulter la liste des randonnées passées avec leurs 	    informations détaillées (date, durée, distance, photos associées).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ZoneTexte 4"/>
          <p:cNvSpPr/>
          <p:nvPr/>
        </p:nvSpPr>
        <p:spPr>
          <a:xfrm>
            <a:off x="1148040" y="2450880"/>
            <a:ext cx="66481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2000" b="1" strike="noStrike" spc="-1" dirty="0">
                <a:solidFill>
                  <a:srgbClr val="C00000"/>
                </a:solidFill>
                <a:latin typeface="Times New Roman"/>
              </a:rPr>
              <a:t>Principe :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ectangle 5"/>
          <p:cNvSpPr/>
          <p:nvPr/>
        </p:nvSpPr>
        <p:spPr>
          <a:xfrm>
            <a:off x="1148040" y="2938320"/>
            <a:ext cx="841500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Les données de chaque randonnée sont sauvegardées automatiquement dans </a:t>
            </a:r>
            <a:r>
              <a:rPr lang="fr-FR" sz="2000" b="1" strike="noStrike" spc="-1" dirty="0" err="1">
                <a:solidFill>
                  <a:srgbClr val="000000"/>
                </a:solidFill>
                <a:latin typeface="Times New Roman"/>
              </a:rPr>
              <a:t>Firestore</a:t>
            </a: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 après l’arrêt du suivi.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ZoneTexte 6"/>
          <p:cNvSpPr/>
          <p:nvPr/>
        </p:nvSpPr>
        <p:spPr>
          <a:xfrm>
            <a:off x="1157400" y="3848040"/>
            <a:ext cx="828180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L’écran d’historique récupère et affiche toutes les sessions depuis </a:t>
            </a:r>
            <a:r>
              <a:rPr lang="fr-FR" sz="2000" b="1" strike="noStrike" spc="-1" dirty="0" err="1">
                <a:solidFill>
                  <a:srgbClr val="000000"/>
                </a:solidFill>
                <a:latin typeface="Times New Roman"/>
              </a:rPr>
              <a:t>Firestore</a:t>
            </a:r>
            <a:r>
              <a:rPr lang="fr-FR" sz="2000" b="1" strike="noStrike" spc="-1" dirty="0">
                <a:solidFill>
                  <a:srgbClr val="000000"/>
                </a:solidFill>
                <a:latin typeface="Times New Roman"/>
              </a:rPr>
              <a:t>.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ZoneTexte 10"/>
          <p:cNvSpPr/>
          <p:nvPr/>
        </p:nvSpPr>
        <p:spPr>
          <a:xfrm>
            <a:off x="1157400" y="4513320"/>
            <a:ext cx="797472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Un clic sur une randonnée ouvre l’écran de </a:t>
            </a:r>
            <a:r>
              <a:rPr lang="fr-FR" sz="2000" b="1" strike="noStrike" spc="-1" dirty="0">
                <a:solidFill>
                  <a:srgbClr val="000000"/>
                </a:solidFill>
                <a:latin typeface="Times New Roman"/>
              </a:rPr>
              <a:t>détails</a:t>
            </a: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 avec le tracé sur carte et les photos </a:t>
            </a:r>
            <a:r>
              <a:rPr lang="fr-FR" sz="2000" b="0" strike="noStrike" spc="-1" dirty="0" err="1">
                <a:solidFill>
                  <a:srgbClr val="000000"/>
                </a:solidFill>
                <a:latin typeface="Times New Roman"/>
              </a:rPr>
              <a:t>géolocalisées</a:t>
            </a: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.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9" name="Image 16"/>
          <p:cNvPicPr/>
          <p:nvPr/>
        </p:nvPicPr>
        <p:blipFill>
          <a:blip r:embed="rId2"/>
          <a:stretch/>
        </p:blipFill>
        <p:spPr>
          <a:xfrm>
            <a:off x="982800" y="1182960"/>
            <a:ext cx="453960" cy="400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uild="p"/>
      <p:bldP spid="144" grpId="0"/>
      <p:bldP spid="145" grpId="0"/>
      <p:bldP spid="146" grpId="0"/>
      <p:bldP spid="147" grpId="0"/>
      <p:bldP spid="14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ZoneTexte 5"/>
          <p:cNvSpPr/>
          <p:nvPr/>
        </p:nvSpPr>
        <p:spPr>
          <a:xfrm>
            <a:off x="1824120" y="5875560"/>
            <a:ext cx="32839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Historique des randonnées</a:t>
            </a:r>
            <a:endParaRPr lang="fr-CA" sz="18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ZoneTexte 6"/>
          <p:cNvSpPr/>
          <p:nvPr/>
        </p:nvSpPr>
        <p:spPr>
          <a:xfrm>
            <a:off x="6758280" y="5875560"/>
            <a:ext cx="387720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Détails d’une randonnée</a:t>
            </a:r>
            <a:endParaRPr lang="fr-CA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62860" y="-129313"/>
            <a:ext cx="9797143" cy="685800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208" y="-78941"/>
            <a:ext cx="97971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04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/>
      <p:bldP spid="1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/>
          </p:nvPr>
        </p:nvSpPr>
        <p:spPr>
          <a:xfrm>
            <a:off x="1370880" y="1073160"/>
            <a:ext cx="7969320" cy="576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indent="0">
              <a:lnSpc>
                <a:spcPct val="105000"/>
              </a:lnSpc>
              <a:spcBef>
                <a:spcPts val="901"/>
              </a:spcBef>
              <a:buNone/>
              <a:tabLst>
                <a:tab pos="0" algn="l"/>
              </a:tabLst>
            </a:pPr>
            <a:r>
              <a:rPr lang="fr-FR" sz="2400" b="1" strike="noStrike" spc="-1" dirty="0">
                <a:solidFill>
                  <a:srgbClr val="000000"/>
                </a:solidFill>
                <a:latin typeface="Times New Roman"/>
              </a:rPr>
              <a:t>Sauvegarde Cloud </a:t>
            </a:r>
            <a:endParaRPr lang="fr-FR" sz="2400" b="0" strike="noStrike" spc="-1" dirty="0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51" name="ZoneTexte 4"/>
          <p:cNvSpPr/>
          <p:nvPr/>
        </p:nvSpPr>
        <p:spPr>
          <a:xfrm>
            <a:off x="1148040" y="1649880"/>
            <a:ext cx="983808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2000" b="1" strike="noStrike" spc="-1" dirty="0">
                <a:solidFill>
                  <a:srgbClr val="C00000"/>
                </a:solidFill>
                <a:latin typeface="Times New Roman"/>
              </a:rPr>
              <a:t>Fonction : </a:t>
            </a: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Synchroniser automatiquement les données de l’application (trajets, photos, 	historique) avec </a:t>
            </a:r>
            <a:r>
              <a:rPr lang="fr-FR" sz="2000" b="0" strike="noStrike" spc="-1" dirty="0" err="1">
                <a:solidFill>
                  <a:srgbClr val="000000"/>
                </a:solidFill>
                <a:latin typeface="Times New Roman"/>
              </a:rPr>
              <a:t>Firebase</a:t>
            </a: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 pour un accès multi-appareils et une sauvegarde sécurisée.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ZoneTexte 5"/>
          <p:cNvSpPr/>
          <p:nvPr/>
        </p:nvSpPr>
        <p:spPr>
          <a:xfrm>
            <a:off x="1148040" y="2450880"/>
            <a:ext cx="66481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2000" b="1" strike="noStrike" spc="-1">
                <a:solidFill>
                  <a:srgbClr val="C00000"/>
                </a:solidFill>
                <a:latin typeface="Times New Roman"/>
              </a:rPr>
              <a:t>Principe :</a:t>
            </a:r>
            <a:endParaRPr lang="fr-CA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ZoneTexte 7"/>
          <p:cNvSpPr/>
          <p:nvPr/>
        </p:nvSpPr>
        <p:spPr>
          <a:xfrm>
            <a:off x="1157400" y="3575520"/>
            <a:ext cx="892800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Récupération des données au démarrage pour recharger l’état complet (via </a:t>
            </a:r>
            <a:r>
              <a:rPr lang="fr-FR" sz="2000" b="0" strike="noStrike" spc="-1" dirty="0" err="1">
                <a:solidFill>
                  <a:srgbClr val="000000"/>
                </a:solidFill>
                <a:latin typeface="Times New Roman"/>
              </a:rPr>
              <a:t>Redux</a:t>
            </a: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).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ZoneTexte 8"/>
          <p:cNvSpPr/>
          <p:nvPr/>
        </p:nvSpPr>
        <p:spPr>
          <a:xfrm>
            <a:off x="1157400" y="4346640"/>
            <a:ext cx="797472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Sécurité assurée par les </a:t>
            </a:r>
            <a:r>
              <a:rPr lang="fr-FR" sz="2000" b="1" strike="noStrike" spc="-1" dirty="0" err="1">
                <a:solidFill>
                  <a:srgbClr val="000000"/>
                </a:solidFill>
                <a:latin typeface="Times New Roman"/>
              </a:rPr>
              <a:t>Firebase</a:t>
            </a:r>
            <a:r>
              <a:rPr lang="fr-FR" sz="2000" b="1" strike="noStrike" spc="-1" dirty="0">
                <a:solidFill>
                  <a:srgbClr val="000000"/>
                </a:solidFill>
                <a:latin typeface="Times New Roman"/>
              </a:rPr>
              <a:t> Security </a:t>
            </a:r>
            <a:r>
              <a:rPr lang="fr-FR" sz="2000" b="1" strike="noStrike" spc="-1" dirty="0" err="1">
                <a:solidFill>
                  <a:srgbClr val="000000"/>
                </a:solidFill>
                <a:latin typeface="Times New Roman"/>
              </a:rPr>
              <a:t>Rules</a:t>
            </a: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 liées à l’UID utilisateur.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5" name="Image 9"/>
          <p:cNvPicPr/>
          <p:nvPr/>
        </p:nvPicPr>
        <p:blipFill>
          <a:blip r:embed="rId2"/>
          <a:stretch/>
        </p:blipFill>
        <p:spPr>
          <a:xfrm>
            <a:off x="870480" y="1063080"/>
            <a:ext cx="555120" cy="420120"/>
          </a:xfrm>
          <a:prstGeom prst="rect">
            <a:avLst/>
          </a:prstGeom>
          <a:ln w="0">
            <a:noFill/>
          </a:ln>
        </p:spPr>
      </p:pic>
      <p:sp>
        <p:nvSpPr>
          <p:cNvPr id="156" name="Rectangle 12"/>
          <p:cNvSpPr/>
          <p:nvPr/>
        </p:nvSpPr>
        <p:spPr>
          <a:xfrm>
            <a:off x="1157400" y="2943720"/>
            <a:ext cx="87973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Utilisation de </a:t>
            </a:r>
            <a:r>
              <a:rPr lang="fr-FR" sz="2000" b="0" strike="noStrike" spc="-1" dirty="0" err="1">
                <a:solidFill>
                  <a:srgbClr val="000000"/>
                </a:solidFill>
                <a:latin typeface="Times New Roman"/>
              </a:rPr>
              <a:t>Firebase</a:t>
            </a: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fr-FR" sz="2000" b="0" strike="noStrike" spc="-1" dirty="0" err="1">
                <a:solidFill>
                  <a:srgbClr val="000000"/>
                </a:solidFill>
                <a:latin typeface="Times New Roman"/>
              </a:rPr>
              <a:t>Firestore</a:t>
            </a: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 pour stocker les trajets et les photos.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0" build="p"/>
      <p:bldP spid="151" grpId="0"/>
      <p:bldP spid="152" grpId="0"/>
      <p:bldP spid="153" grpId="0"/>
      <p:bldP spid="154" grpId="0"/>
      <p:bldP spid="15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ZoneTexte 4"/>
          <p:cNvSpPr/>
          <p:nvPr/>
        </p:nvSpPr>
        <p:spPr>
          <a:xfrm flipH="1">
            <a:off x="4086000" y="6180840"/>
            <a:ext cx="35863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CA" sz="2000" b="0" strike="noStrike" spc="-1" dirty="0">
                <a:solidFill>
                  <a:srgbClr val="000000"/>
                </a:solidFill>
                <a:latin typeface="Times New Roman"/>
              </a:rPr>
              <a:t>Stockage dans </a:t>
            </a:r>
            <a:r>
              <a:rPr lang="fr-CA" sz="2000" b="0" strike="noStrike" spc="-1" dirty="0" err="1">
                <a:solidFill>
                  <a:srgbClr val="000000"/>
                </a:solidFill>
                <a:latin typeface="Times New Roman"/>
              </a:rPr>
              <a:t>Firestore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8" name="Image 7"/>
          <p:cNvPicPr/>
          <p:nvPr/>
        </p:nvPicPr>
        <p:blipFill>
          <a:blip r:embed="rId2"/>
          <a:stretch/>
        </p:blipFill>
        <p:spPr>
          <a:xfrm>
            <a:off x="757440" y="758160"/>
            <a:ext cx="10681200" cy="53467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Image 3"/>
          <p:cNvPicPr/>
          <p:nvPr/>
        </p:nvPicPr>
        <p:blipFill>
          <a:blip r:embed="rId2"/>
          <a:stretch/>
        </p:blipFill>
        <p:spPr>
          <a:xfrm>
            <a:off x="749520" y="793800"/>
            <a:ext cx="10697400" cy="5317920"/>
          </a:xfrm>
          <a:prstGeom prst="rect">
            <a:avLst/>
          </a:prstGeom>
          <a:ln w="0">
            <a:noFill/>
          </a:ln>
        </p:spPr>
      </p:pic>
      <p:sp>
        <p:nvSpPr>
          <p:cNvPr id="160" name="ZoneTexte 4"/>
          <p:cNvSpPr/>
          <p:nvPr/>
        </p:nvSpPr>
        <p:spPr>
          <a:xfrm flipH="1">
            <a:off x="4119840" y="6187680"/>
            <a:ext cx="39553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CA" sz="2000" b="0" strike="noStrike" spc="-1" dirty="0">
                <a:solidFill>
                  <a:srgbClr val="000000"/>
                </a:solidFill>
                <a:latin typeface="Times New Roman"/>
              </a:rPr>
              <a:t>Règles de sécurité </a:t>
            </a:r>
            <a:r>
              <a:rPr lang="fr-CA" sz="2000" b="0" strike="noStrike" spc="-1" dirty="0" err="1">
                <a:solidFill>
                  <a:srgbClr val="000000"/>
                </a:solidFill>
                <a:latin typeface="Times New Roman"/>
              </a:rPr>
              <a:t>Firestore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/>
          </p:nvPr>
        </p:nvSpPr>
        <p:spPr>
          <a:xfrm>
            <a:off x="1359720" y="1030680"/>
            <a:ext cx="9143640" cy="749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000"/>
          </a:bodyPr>
          <a:lstStyle/>
          <a:p>
            <a:pPr indent="0">
              <a:lnSpc>
                <a:spcPct val="105000"/>
              </a:lnSpc>
              <a:spcBef>
                <a:spcPts val="901"/>
              </a:spcBef>
              <a:buNone/>
              <a:tabLst>
                <a:tab pos="0" algn="l"/>
              </a:tabLst>
            </a:pPr>
            <a:r>
              <a:rPr lang="fr-FR" sz="2400" b="1" strike="noStrike" spc="-1" dirty="0">
                <a:solidFill>
                  <a:srgbClr val="000000"/>
                </a:solidFill>
                <a:latin typeface="Times New Roman"/>
              </a:rPr>
              <a:t>Authentification </a:t>
            </a:r>
            <a:r>
              <a:rPr lang="fr-CA" sz="2400" b="0" strike="noStrike" spc="-1" dirty="0">
                <a:solidFill>
                  <a:srgbClr val="000000"/>
                </a:solidFill>
                <a:latin typeface="Avenir Next LT Pro"/>
              </a:rPr>
              <a:t>— </a:t>
            </a:r>
            <a:r>
              <a:rPr lang="fr-FR" sz="2400" b="1" strike="noStrike" spc="-1" dirty="0">
                <a:solidFill>
                  <a:srgbClr val="000000"/>
                </a:solidFill>
                <a:latin typeface="Times New Roman"/>
              </a:rPr>
              <a:t>connexion sécurisée avec </a:t>
            </a:r>
            <a:r>
              <a:rPr lang="fr-FR" sz="2400" b="1" strike="noStrike" spc="-1" dirty="0" err="1">
                <a:solidFill>
                  <a:srgbClr val="000000"/>
                </a:solidFill>
                <a:latin typeface="Times New Roman"/>
              </a:rPr>
              <a:t>Firebase</a:t>
            </a:r>
            <a:r>
              <a:rPr lang="fr-FR" sz="2400" b="1" strike="noStrike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fr-FR" sz="2400" b="1" strike="noStrike" spc="-1" dirty="0" err="1">
                <a:solidFill>
                  <a:srgbClr val="000000"/>
                </a:solidFill>
                <a:latin typeface="Times New Roman"/>
              </a:rPr>
              <a:t>Authentication</a:t>
            </a:r>
            <a:r>
              <a:rPr lang="fr-FR" sz="2400" b="0" strike="noStrike" spc="-1" dirty="0">
                <a:solidFill>
                  <a:srgbClr val="000000"/>
                </a:solidFill>
                <a:latin typeface="Avenir Next LT Pro"/>
              </a:rPr>
              <a:t>.</a:t>
            </a:r>
          </a:p>
        </p:txBody>
      </p:sp>
      <p:pic>
        <p:nvPicPr>
          <p:cNvPr id="162" name="Picture 2" descr="Image générée"/>
          <p:cNvPicPr/>
          <p:nvPr/>
        </p:nvPicPr>
        <p:blipFill>
          <a:blip r:embed="rId2"/>
          <a:stretch/>
        </p:blipFill>
        <p:spPr>
          <a:xfrm>
            <a:off x="911880" y="1030680"/>
            <a:ext cx="510840" cy="510840"/>
          </a:xfrm>
          <a:prstGeom prst="rect">
            <a:avLst/>
          </a:prstGeom>
          <a:ln w="0">
            <a:noFill/>
          </a:ln>
        </p:spPr>
      </p:pic>
      <p:sp>
        <p:nvSpPr>
          <p:cNvPr id="163" name="ZoneTexte 4"/>
          <p:cNvSpPr/>
          <p:nvPr/>
        </p:nvSpPr>
        <p:spPr>
          <a:xfrm>
            <a:off x="1148040" y="1649880"/>
            <a:ext cx="983808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2000" b="1" strike="noStrike" spc="-1" dirty="0">
                <a:solidFill>
                  <a:srgbClr val="C00000"/>
                </a:solidFill>
                <a:latin typeface="Times New Roman"/>
              </a:rPr>
              <a:t>Fonction : </a:t>
            </a: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permet aux utilisateurs de s’identifier et d’accéder à leurs données personnelles en toute sécurité.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ZoneTexte 5"/>
          <p:cNvSpPr/>
          <p:nvPr/>
        </p:nvSpPr>
        <p:spPr>
          <a:xfrm>
            <a:off x="1148040" y="2450880"/>
            <a:ext cx="66481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2000" b="1" strike="noStrike" spc="-1">
                <a:solidFill>
                  <a:srgbClr val="C00000"/>
                </a:solidFill>
                <a:latin typeface="Times New Roman"/>
              </a:rPr>
              <a:t>Principe :</a:t>
            </a:r>
            <a:endParaRPr lang="fr-CA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ZoneTexte 6"/>
          <p:cNvSpPr/>
          <p:nvPr/>
        </p:nvSpPr>
        <p:spPr>
          <a:xfrm>
            <a:off x="1157400" y="3575520"/>
            <a:ext cx="892800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Vérification des identifiants via </a:t>
            </a:r>
            <a:r>
              <a:rPr lang="fr-FR" sz="2000" b="0" strike="noStrike" spc="-1" dirty="0" err="1">
                <a:solidFill>
                  <a:srgbClr val="000000"/>
                </a:solidFill>
                <a:latin typeface="Times New Roman"/>
              </a:rPr>
              <a:t>Firebase</a:t>
            </a: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fr-FR" sz="2000" b="0" strike="noStrike" spc="-1" dirty="0" err="1">
                <a:solidFill>
                  <a:srgbClr val="000000"/>
                </a:solidFill>
                <a:latin typeface="Times New Roman"/>
              </a:rPr>
              <a:t>Authentication</a:t>
            </a: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.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ZoneTexte 7"/>
          <p:cNvSpPr/>
          <p:nvPr/>
        </p:nvSpPr>
        <p:spPr>
          <a:xfrm>
            <a:off x="1157400" y="4346640"/>
            <a:ext cx="79747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Redirection vers l’interface utilisateur personnalisée.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Rectangle 8"/>
          <p:cNvSpPr/>
          <p:nvPr/>
        </p:nvSpPr>
        <p:spPr>
          <a:xfrm>
            <a:off x="1157400" y="2943720"/>
            <a:ext cx="87973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Saisie des identifiants (e-mail/mot de passe ou Google).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Rectangle 3"/>
          <p:cNvSpPr/>
          <p:nvPr/>
        </p:nvSpPr>
        <p:spPr>
          <a:xfrm>
            <a:off x="1167480" y="4955400"/>
            <a:ext cx="72475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Liaison avec </a:t>
            </a:r>
            <a:r>
              <a:rPr lang="fr-FR" sz="2000" b="0" strike="noStrike" spc="-1" dirty="0" err="1">
                <a:solidFill>
                  <a:srgbClr val="000000"/>
                </a:solidFill>
                <a:latin typeface="Times New Roman"/>
              </a:rPr>
              <a:t>Firestore</a:t>
            </a: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 pour isoler les données par utilisateur.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" grpId="0" build="p"/>
      <p:bldP spid="163" grpId="0"/>
      <p:bldP spid="164" grpId="0"/>
      <p:bldP spid="165" grpId="0"/>
      <p:bldP spid="166" grpId="0"/>
      <p:bldP spid="167" grpId="0"/>
      <p:bldP spid="16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Image 3"/>
          <p:cNvPicPr/>
          <p:nvPr/>
        </p:nvPicPr>
        <p:blipFill>
          <a:blip r:embed="rId2"/>
          <a:stretch/>
        </p:blipFill>
        <p:spPr>
          <a:xfrm>
            <a:off x="770040" y="770040"/>
            <a:ext cx="10628640" cy="5430960"/>
          </a:xfrm>
          <a:prstGeom prst="rect">
            <a:avLst/>
          </a:prstGeom>
          <a:ln w="0">
            <a:noFill/>
          </a:ln>
        </p:spPr>
      </p:pic>
      <p:sp>
        <p:nvSpPr>
          <p:cNvPr id="170" name="ZoneTexte 4"/>
          <p:cNvSpPr/>
          <p:nvPr/>
        </p:nvSpPr>
        <p:spPr>
          <a:xfrm>
            <a:off x="4678200" y="6257880"/>
            <a:ext cx="419580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2000" b="0" strike="noStrike" spc="-1">
                <a:solidFill>
                  <a:srgbClr val="000000"/>
                </a:solidFill>
                <a:latin typeface="Times New Roman"/>
              </a:rPr>
              <a:t>Gestion des comptes dans Firebase</a:t>
            </a:r>
            <a:endParaRPr lang="fr-CA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Image 3"/>
          <p:cNvPicPr/>
          <p:nvPr/>
        </p:nvPicPr>
        <p:blipFill>
          <a:blip r:embed="rId2"/>
          <a:stretch/>
        </p:blipFill>
        <p:spPr>
          <a:xfrm>
            <a:off x="-1133280" y="89280"/>
            <a:ext cx="9390960" cy="6573600"/>
          </a:xfrm>
          <a:prstGeom prst="rect">
            <a:avLst/>
          </a:prstGeom>
          <a:ln w="0">
            <a:noFill/>
          </a:ln>
        </p:spPr>
      </p:pic>
      <p:sp>
        <p:nvSpPr>
          <p:cNvPr id="172" name="ZoneTexte 4"/>
          <p:cNvSpPr/>
          <p:nvPr/>
        </p:nvSpPr>
        <p:spPr>
          <a:xfrm>
            <a:off x="5713200" y="2374560"/>
            <a:ext cx="26434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CA" sz="2000" b="0" strike="noStrike" spc="-1">
                <a:solidFill>
                  <a:srgbClr val="000000"/>
                </a:solidFill>
                <a:latin typeface="Times New Roman"/>
              </a:rPr>
              <a:t>Interface de connexion</a:t>
            </a:r>
            <a:endParaRPr lang="fr-CA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ZoneTexte 5"/>
          <p:cNvSpPr/>
          <p:nvPr/>
        </p:nvSpPr>
        <p:spPr>
          <a:xfrm>
            <a:off x="1566360" y="1268640"/>
            <a:ext cx="2034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CA" sz="2400" b="1" strike="noStrike" spc="-1" dirty="0">
                <a:solidFill>
                  <a:srgbClr val="000000"/>
                </a:solidFill>
                <a:latin typeface="Times New Roman"/>
              </a:rPr>
              <a:t>Résultats</a:t>
            </a:r>
            <a:endParaRPr lang="fr-CA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ZoneTexte 6"/>
          <p:cNvSpPr/>
          <p:nvPr/>
        </p:nvSpPr>
        <p:spPr>
          <a:xfrm>
            <a:off x="1327680" y="2653920"/>
            <a:ext cx="892800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Synchronisation et enregistrement des données réussis.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Rectangle 8"/>
          <p:cNvSpPr/>
          <p:nvPr/>
        </p:nvSpPr>
        <p:spPr>
          <a:xfrm>
            <a:off x="1327680" y="2022120"/>
            <a:ext cx="87973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2000" b="0" strike="noStrike" spc="-1">
                <a:solidFill>
                  <a:srgbClr val="000000"/>
                </a:solidFill>
                <a:latin typeface="Times New Roman"/>
              </a:rPr>
              <a:t>Fonctionnement fluide et stable de l’application.</a:t>
            </a:r>
            <a:endParaRPr lang="fr-CA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Rectangle 11"/>
          <p:cNvSpPr/>
          <p:nvPr/>
        </p:nvSpPr>
        <p:spPr>
          <a:xfrm>
            <a:off x="1327680" y="3350880"/>
            <a:ext cx="72475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L’interface est fluide et intuitive pour l’utilisateur.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/>
      <p:bldP spid="174" grpId="0"/>
      <p:bldP spid="175" grpId="0"/>
      <p:bldP spid="17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ZoneTexte 5"/>
          <p:cNvSpPr/>
          <p:nvPr/>
        </p:nvSpPr>
        <p:spPr>
          <a:xfrm>
            <a:off x="1566360" y="1268640"/>
            <a:ext cx="2034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CA" sz="2400" b="1" strike="noStrike" spc="-1" dirty="0">
                <a:solidFill>
                  <a:srgbClr val="000000"/>
                </a:solidFill>
                <a:latin typeface="Times New Roman"/>
              </a:rPr>
              <a:t>Conclusion</a:t>
            </a:r>
            <a:endParaRPr lang="fr-CA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ZoneTexte 6"/>
          <p:cNvSpPr/>
          <p:nvPr/>
        </p:nvSpPr>
        <p:spPr>
          <a:xfrm>
            <a:off x="1327680" y="3458160"/>
            <a:ext cx="892800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Une application simple, intuitive et efficace.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Rectangle 8"/>
          <p:cNvSpPr/>
          <p:nvPr/>
        </p:nvSpPr>
        <p:spPr>
          <a:xfrm>
            <a:off x="1327680" y="2022120"/>
            <a:ext cx="87973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2000" b="0" strike="noStrike" spc="-1" dirty="0" err="1">
                <a:solidFill>
                  <a:srgbClr val="000000"/>
                </a:solidFill>
                <a:latin typeface="Times New Roman"/>
              </a:rPr>
              <a:t>iHike</a:t>
            </a: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, C’est: 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Rectangle 11"/>
          <p:cNvSpPr/>
          <p:nvPr/>
        </p:nvSpPr>
        <p:spPr>
          <a:xfrm>
            <a:off x="1327680" y="4204440"/>
            <a:ext cx="72475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Une solution fiable, prête à accompagner chaque randonnée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Rectangle 7"/>
          <p:cNvSpPr/>
          <p:nvPr/>
        </p:nvSpPr>
        <p:spPr>
          <a:xfrm>
            <a:off x="1327680" y="2768400"/>
            <a:ext cx="87973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2000" b="0" strike="noStrike" spc="-1" dirty="0">
                <a:solidFill>
                  <a:srgbClr val="000000"/>
                </a:solidFill>
                <a:latin typeface="Times New Roman"/>
              </a:rPr>
              <a:t>Une réponse aux besoins des randonneurs</a:t>
            </a:r>
            <a:endParaRPr lang="fr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1327680" y="4950720"/>
            <a:ext cx="9143640" cy="1592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 indent="0" algn="ctr">
              <a:lnSpc>
                <a:spcPct val="95000"/>
              </a:lnSpc>
              <a:buNone/>
            </a:pPr>
            <a:r>
              <a:rPr lang="fr-FR" sz="5000" b="0" strike="noStrike" spc="-52" dirty="0">
                <a:solidFill>
                  <a:srgbClr val="002060"/>
                </a:solidFill>
                <a:latin typeface="Agency FB"/>
              </a:rPr>
              <a:t>Avec </a:t>
            </a:r>
            <a:r>
              <a:rPr lang="fr-FR" sz="5000" b="0" strike="noStrike" spc="-52" dirty="0" err="1">
                <a:solidFill>
                  <a:srgbClr val="002060"/>
                </a:solidFill>
                <a:latin typeface="Agency FB"/>
              </a:rPr>
              <a:t>iHike</a:t>
            </a:r>
            <a:r>
              <a:rPr lang="fr-FR" sz="5000" b="0" strike="noStrike" spc="-52" dirty="0">
                <a:solidFill>
                  <a:srgbClr val="002060"/>
                </a:solidFill>
                <a:latin typeface="Agency FB"/>
              </a:rPr>
              <a:t>, chaque randonnée devient un souvenir vivant</a:t>
            </a:r>
            <a:endParaRPr lang="fr-FR" sz="5000" b="0" strike="noStrike" spc="-1" dirty="0">
              <a:solidFill>
                <a:srgbClr val="000000"/>
              </a:solidFill>
              <a:latin typeface="Avenir Next LT Pr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/>
      <p:bldP spid="178" grpId="0"/>
      <p:bldP spid="179" grpId="0"/>
      <p:bldP spid="180" grpId="0"/>
      <p:bldP spid="181" grpId="0"/>
      <p:bldP spid="18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/>
          </p:nvPr>
        </p:nvSpPr>
        <p:spPr>
          <a:xfrm>
            <a:off x="1519560" y="2990880"/>
            <a:ext cx="9576720" cy="2605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5000"/>
              </a:lnSpc>
              <a:spcBef>
                <a:spcPts val="901"/>
              </a:spcBef>
              <a:buNone/>
              <a:tabLst>
                <a:tab pos="0" algn="l"/>
              </a:tabLst>
            </a:pPr>
            <a:r>
              <a:rPr lang="fr-CA" sz="5000" b="1" strike="noStrike" spc="-1" dirty="0">
                <a:solidFill>
                  <a:srgbClr val="C00000"/>
                </a:solidFill>
                <a:latin typeface="comic"/>
              </a:rPr>
              <a:t>Merci pour votre attention</a:t>
            </a:r>
            <a:endParaRPr lang="fr-FR" sz="5000" b="1" strike="noStrike" spc="-1" dirty="0">
              <a:solidFill>
                <a:srgbClr val="000000"/>
              </a:solidFill>
              <a:latin typeface="Avenir Next LT Pr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rismaticVTI">
  <a:themeElements>
    <a:clrScheme name="AnalogousFromRegularSeedRightStep">
      <a:dk1>
        <a:srgbClr val="000000"/>
      </a:dk1>
      <a:lt1>
        <a:srgbClr val="FFFFFF"/>
      </a:lt1>
      <a:dk2>
        <a:srgbClr val="412824"/>
      </a:dk2>
      <a:lt2>
        <a:srgbClr val="E2E8E4"/>
      </a:lt2>
      <a:accent1>
        <a:srgbClr val="DC34AD"/>
      </a:accent1>
      <a:accent2>
        <a:srgbClr val="CA2255"/>
      </a:accent2>
      <a:accent3>
        <a:srgbClr val="DC4734"/>
      </a:accent3>
      <a:accent4>
        <a:srgbClr val="CA7B22"/>
      </a:accent4>
      <a:accent5>
        <a:srgbClr val="AFA829"/>
      </a:accent5>
      <a:accent6>
        <a:srgbClr val="7EB41E"/>
      </a:accent6>
      <a:hlink>
        <a:srgbClr val="31944D"/>
      </a:hlink>
      <a:folHlink>
        <a:srgbClr val="7F7F7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ismaticVTI">
  <a:themeElements>
    <a:clrScheme name="AnalogousFromRegularSeedRightStep">
      <a:dk1>
        <a:srgbClr val="000000"/>
      </a:dk1>
      <a:lt1>
        <a:srgbClr val="FFFFFF"/>
      </a:lt1>
      <a:dk2>
        <a:srgbClr val="412824"/>
      </a:dk2>
      <a:lt2>
        <a:srgbClr val="E2E8E4"/>
      </a:lt2>
      <a:accent1>
        <a:srgbClr val="DC34AD"/>
      </a:accent1>
      <a:accent2>
        <a:srgbClr val="CA2255"/>
      </a:accent2>
      <a:accent3>
        <a:srgbClr val="DC4734"/>
      </a:accent3>
      <a:accent4>
        <a:srgbClr val="CA7B22"/>
      </a:accent4>
      <a:accent5>
        <a:srgbClr val="AFA829"/>
      </a:accent5>
      <a:accent6>
        <a:srgbClr val="7EB41E"/>
      </a:accent6>
      <a:hlink>
        <a:srgbClr val="31944D"/>
      </a:hlink>
      <a:folHlink>
        <a:srgbClr val="7F7F7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12824"/>
      </a:dk2>
      <a:lt2>
        <a:srgbClr val="E2E8E4"/>
      </a:lt2>
      <a:accent1>
        <a:srgbClr val="DC34AD"/>
      </a:accent1>
      <a:accent2>
        <a:srgbClr val="CA2255"/>
      </a:accent2>
      <a:accent3>
        <a:srgbClr val="DC4734"/>
      </a:accent3>
      <a:accent4>
        <a:srgbClr val="CA7B22"/>
      </a:accent4>
      <a:accent5>
        <a:srgbClr val="AFA829"/>
      </a:accent5>
      <a:accent6>
        <a:srgbClr val="7EB41E"/>
      </a:accent6>
      <a:hlink>
        <a:srgbClr val="31944D"/>
      </a:hlink>
      <a:folHlink>
        <a:srgbClr val="7F7F7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4418</TotalTime>
  <Words>666</Words>
  <Application>Microsoft Office PowerPoint</Application>
  <PresentationFormat>Grand écran</PresentationFormat>
  <Paragraphs>82</Paragraphs>
  <Slides>18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18</vt:i4>
      </vt:variant>
    </vt:vector>
  </HeadingPairs>
  <TitlesOfParts>
    <vt:vector size="29" baseType="lpstr">
      <vt:lpstr>Agency FB</vt:lpstr>
      <vt:lpstr>Aharoni</vt:lpstr>
      <vt:lpstr>Arial</vt:lpstr>
      <vt:lpstr>Avenir Next LT Pro</vt:lpstr>
      <vt:lpstr>comic</vt:lpstr>
      <vt:lpstr>DejaVu Sans</vt:lpstr>
      <vt:lpstr>Symbol</vt:lpstr>
      <vt:lpstr>Times New Roman</vt:lpstr>
      <vt:lpstr>Wingdings</vt:lpstr>
      <vt:lpstr>PrismaticVTI</vt:lpstr>
      <vt:lpstr>PrismaticVTI</vt:lpstr>
      <vt:lpstr>Application Mobile de Suivi de Randonnée</vt:lpstr>
      <vt:lpstr>Pourquoi iHike ?</vt:lpstr>
      <vt:lpstr>Objectifs du projet iHike</vt:lpstr>
      <vt:lpstr>Fonctionnalités principales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Avec iHike, chaque randonnée devient un souvenir vivant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dynamique de la mémoire en MASM </dc:title>
  <dc:subject/>
  <dc:creator/>
  <dc:description/>
  <cp:lastModifiedBy>Compte Microsoft</cp:lastModifiedBy>
  <cp:revision>76</cp:revision>
  <dcterms:created xsi:type="dcterms:W3CDTF">2024-11-09T14:36:58Z</dcterms:created>
  <dcterms:modified xsi:type="dcterms:W3CDTF">2025-08-19T20:34:10Z</dcterms:modified>
  <dc:language>fr-CA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Grand écran</vt:lpwstr>
  </property>
  <property fmtid="{D5CDD505-2E9C-101B-9397-08002B2CF9AE}" pid="4" name="Slides">
    <vt:i4>21</vt:i4>
  </property>
</Properties>
</file>